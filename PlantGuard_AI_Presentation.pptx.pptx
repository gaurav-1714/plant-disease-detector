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mbria Bold" charset="1" panose="02040803050406030204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" charset="1" panose="020F0502020204030204"/>
      <p:regular r:id="rId16"/>
    </p:embeddedFont>
    <p:embeddedFont>
      <p:font typeface="Calibri (MS) Bold" charset="1" panose="020F0702030404030204"/>
      <p:regular r:id="rId18"/>
    </p:embeddedFont>
    <p:embeddedFont>
      <p:font typeface="Arial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gaurav-1714/Plant-Disease-Detector" TargetMode="External" Type="http://schemas.openxmlformats.org/officeDocument/2006/relationships/hyperlink"/><Relationship Id="rId11" Target="https://plant-disease-detector-osut.onrender.com/docs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7.png" Type="http://schemas.openxmlformats.org/officeDocument/2006/relationships/image"/><Relationship Id="rId8" Target="../media/image11.png" Type="http://schemas.openxmlformats.org/officeDocument/2006/relationships/image"/><Relationship Id="rId9" Target="https://plant-disease-detector-mu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46888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2C5F2D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713232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2C5F2D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23860" y="1577340"/>
            <a:ext cx="2194560" cy="2194560"/>
            <a:chOff x="0" y="0"/>
            <a:chExt cx="292608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1463040"/>
                  </a:moveTo>
                  <a:cubicBezTo>
                    <a:pt x="0" y="655066"/>
                    <a:pt x="655066" y="0"/>
                    <a:pt x="1463040" y="0"/>
                  </a:cubicBezTo>
                  <a:cubicBezTo>
                    <a:pt x="2271014" y="0"/>
                    <a:pt x="2926080" y="655066"/>
                    <a:pt x="2926080" y="1463040"/>
                  </a:cubicBezTo>
                  <a:cubicBezTo>
                    <a:pt x="2926080" y="2271014"/>
                    <a:pt x="2271014" y="2926080"/>
                    <a:pt x="1463040" y="2926080"/>
                  </a:cubicBezTo>
                  <a:cubicBezTo>
                    <a:pt x="655066" y="2926080"/>
                    <a:pt x="0" y="2271014"/>
                    <a:pt x="0" y="146304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50554" y="2104034"/>
            <a:ext cx="1141171" cy="1141171"/>
            <a:chOff x="0" y="0"/>
            <a:chExt cx="1521562" cy="1521562"/>
          </a:xfrm>
        </p:grpSpPr>
        <p:sp>
          <p:nvSpPr>
            <p:cNvPr name="Freeform 9" id="9" descr="/home/claude/ppt/icon_leaf.png"/>
            <p:cNvSpPr/>
            <p:nvPr/>
          </p:nvSpPr>
          <p:spPr>
            <a:xfrm flipH="false" flipV="false" rot="0">
              <a:off x="0" y="0"/>
              <a:ext cx="1521587" cy="1521587"/>
            </a:xfrm>
            <a:custGeom>
              <a:avLst/>
              <a:gdLst/>
              <a:ahLst/>
              <a:cxnLst/>
              <a:rect r="r" b="b" t="t" l="l"/>
              <a:pathLst>
                <a:path h="1521587" w="1521587">
                  <a:moveTo>
                    <a:pt x="0" y="0"/>
                  </a:moveTo>
                  <a:lnTo>
                    <a:pt x="1521587" y="0"/>
                  </a:lnTo>
                  <a:lnTo>
                    <a:pt x="1521587" y="1521587"/>
                  </a:lnTo>
                  <a:lnTo>
                    <a:pt x="0" y="1521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4183380"/>
            <a:ext cx="16870680" cy="1371600"/>
            <a:chOff x="0" y="0"/>
            <a:chExt cx="2249424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942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665" r="0" b="-18966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9424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PlantGuard 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5417820"/>
            <a:ext cx="16870680" cy="822960"/>
            <a:chOff x="0" y="0"/>
            <a:chExt cx="2249424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94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24942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AI-Powered Plant Disease Detection, From Phone to Diagnosis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258300"/>
            <a:ext cx="16870680" cy="548640"/>
            <a:chOff x="0" y="0"/>
            <a:chExt cx="22494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9D6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Major Project  •  Agriculture &amp; Intelligent Supply Chains Track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1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77340"/>
            <a:ext cx="16322040" cy="822960"/>
            <a:chOff x="0" y="0"/>
            <a:chExt cx="217627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B65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Crop disease destroys up to 40% of global harvests — and the bottleneck isn't treatment, it's diagnosis.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8092440" cy="6240780"/>
            <a:chOff x="0" y="0"/>
            <a:chExt cx="10789920" cy="832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321040"/>
            </a:xfrm>
            <a:custGeom>
              <a:avLst/>
              <a:gdLst/>
              <a:ahLst/>
              <a:cxnLst/>
              <a:rect r="r" b="b" t="t" l="l"/>
              <a:pathLst>
                <a:path h="832104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8101584"/>
                  </a:lnTo>
                  <a:cubicBezTo>
                    <a:pt x="10789920" y="8222742"/>
                    <a:pt x="10691622" y="8321040"/>
                    <a:pt x="10570464" y="8321040"/>
                  </a:cubicBezTo>
                  <a:lnTo>
                    <a:pt x="219456" y="8321040"/>
                  </a:lnTo>
                  <a:cubicBezTo>
                    <a:pt x="98298" y="8321040"/>
                    <a:pt x="0" y="8222742"/>
                    <a:pt x="0" y="8101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223260"/>
            <a:ext cx="7269480" cy="548640"/>
            <a:chOff x="0" y="0"/>
            <a:chExt cx="9692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3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diagnosis is the bottleneck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4183380"/>
            <a:ext cx="192024" cy="192024"/>
            <a:chOff x="0" y="0"/>
            <a:chExt cx="256032" cy="2560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37360" y="4012692"/>
            <a:ext cx="653796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A2A28"/>
                </a:solidFill>
                <a:latin typeface="Calibri (MS)"/>
                <a:ea typeface="Calibri (MS)"/>
                <a:cs typeface="Calibri (MS)"/>
                <a:sym typeface="Calibri (MS)"/>
              </a:rPr>
              <a:t>Effective treatments already exist for nearly every common disease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34440" y="5390388"/>
            <a:ext cx="192024" cy="192024"/>
            <a:chOff x="0" y="0"/>
            <a:chExt cx="256032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37360" y="5219700"/>
            <a:ext cx="653796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A2A28"/>
                </a:solidFill>
                <a:latin typeface="Calibri (MS)"/>
                <a:ea typeface="Calibri (MS)"/>
                <a:cs typeface="Calibri (MS)"/>
                <a:sym typeface="Calibri (MS)"/>
              </a:rPr>
              <a:t>Expert diagnosis depends on scarce agricultural extension officers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4440" y="6597396"/>
            <a:ext cx="192024" cy="192024"/>
            <a:chOff x="0" y="0"/>
            <a:chExt cx="256032" cy="2560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37360" y="6426708"/>
            <a:ext cx="653796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A2A28"/>
                </a:solidFill>
                <a:latin typeface="Calibri (MS)"/>
                <a:ea typeface="Calibri (MS)"/>
                <a:cs typeface="Calibri (MS)"/>
                <a:sym typeface="Calibri (MS)"/>
              </a:rPr>
              <a:t>Rural farms are often days away from expert confirmation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4440" y="7804404"/>
            <a:ext cx="192024" cy="192024"/>
            <a:chOff x="0" y="0"/>
            <a:chExt cx="256032" cy="2560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37360" y="7633716"/>
            <a:ext cx="653796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A2A28"/>
                </a:solidFill>
                <a:latin typeface="Calibri (MS)"/>
                <a:ea typeface="Calibri (MS)"/>
                <a:cs typeface="Calibri (MS)"/>
                <a:sym typeface="Calibri (MS)"/>
              </a:rPr>
              <a:t>By the time disease is confirmed, early-stage infection can become a field-wide outbreak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26880" y="2811780"/>
            <a:ext cx="8092440" cy="6240780"/>
            <a:chOff x="0" y="0"/>
            <a:chExt cx="10789920" cy="832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9920" cy="8321040"/>
            </a:xfrm>
            <a:custGeom>
              <a:avLst/>
              <a:gdLst/>
              <a:ahLst/>
              <a:cxnLst/>
              <a:rect r="r" b="b" t="t" l="l"/>
              <a:pathLst>
                <a:path h="832104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8101584"/>
                  </a:lnTo>
                  <a:cubicBezTo>
                    <a:pt x="10789920" y="8222742"/>
                    <a:pt x="10691622" y="8321040"/>
                    <a:pt x="10570464" y="8321040"/>
                  </a:cubicBezTo>
                  <a:lnTo>
                    <a:pt x="219456" y="8321040"/>
                  </a:lnTo>
                  <a:cubicBezTo>
                    <a:pt x="98298" y="8321040"/>
                    <a:pt x="0" y="8222742"/>
                    <a:pt x="0" y="810158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38360" y="3223260"/>
            <a:ext cx="7269480" cy="548640"/>
            <a:chOff x="0" y="0"/>
            <a:chExt cx="96926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692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AI is required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38360" y="3977640"/>
            <a:ext cx="7269480" cy="1234440"/>
            <a:chOff x="0" y="0"/>
            <a:chExt cx="969264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45" r="0" b="-647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69264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3EED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Disease symptoms are visually subtle and vary across crops, cultivars, and lighting — rule-based image processing cannot generalize at this scale.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38360" y="5554980"/>
            <a:ext cx="1165860" cy="1165860"/>
            <a:chOff x="0" y="0"/>
            <a:chExt cx="155448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18166" y="5834786"/>
            <a:ext cx="606247" cy="606247"/>
            <a:chOff x="0" y="0"/>
            <a:chExt cx="808330" cy="808330"/>
          </a:xfrm>
        </p:grpSpPr>
        <p:sp>
          <p:nvSpPr>
            <p:cNvPr name="Freeform 36" id="36" descr="/home/claude/ppt/icon_brain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269980" y="5553075"/>
            <a:ext cx="564642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CNN trained via transfer learning 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these visual patterns directly from thousands of labeled examples — starting from ImageNet features rather than from scratch.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738360" y="7680960"/>
            <a:ext cx="7269480" cy="685800"/>
            <a:chOff x="0" y="0"/>
            <a:chExt cx="96926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 disease classes  •  14 crop species  •  87,000+ training images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1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7734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B65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Four independent layers — each replaceable without touching the others.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223260"/>
            <a:ext cx="3771900" cy="4251960"/>
            <a:chOff x="0" y="0"/>
            <a:chExt cx="5029200" cy="5669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292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486400"/>
                  </a:lnTo>
                  <a:cubicBezTo>
                    <a:pt x="5029200" y="5587365"/>
                    <a:pt x="4947285" y="5669280"/>
                    <a:pt x="4846320" y="5669280"/>
                  </a:cubicBezTo>
                  <a:lnTo>
                    <a:pt x="182880" y="5669280"/>
                  </a:lnTo>
                  <a:cubicBezTo>
                    <a:pt x="81915" y="5669280"/>
                    <a:pt x="0" y="5587365"/>
                    <a:pt x="0" y="54864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28850" y="370332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25116" y="3999586"/>
            <a:ext cx="641909" cy="641909"/>
            <a:chOff x="0" y="0"/>
            <a:chExt cx="855878" cy="855878"/>
          </a:xfrm>
        </p:grpSpPr>
        <p:sp>
          <p:nvSpPr>
            <p:cNvPr name="Freeform 13" id="13" descr="/home/claude/ppt/icon_mobile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5212080"/>
            <a:ext cx="3360420" cy="548640"/>
            <a:chOff x="0" y="0"/>
            <a:chExt cx="44805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480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25880" y="5836920"/>
            <a:ext cx="304038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D9E5D5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or live camera capture — browser-based, works on any phone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732020" y="4937760"/>
            <a:ext cx="384048" cy="822960"/>
            <a:chOff x="0" y="0"/>
            <a:chExt cx="512064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1206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B3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16068" y="3223260"/>
            <a:ext cx="3771900" cy="4251960"/>
            <a:chOff x="0" y="0"/>
            <a:chExt cx="5029200" cy="5669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292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486400"/>
                  </a:lnTo>
                  <a:cubicBezTo>
                    <a:pt x="5029200" y="5587365"/>
                    <a:pt x="4947285" y="5669280"/>
                    <a:pt x="4846320" y="5669280"/>
                  </a:cubicBezTo>
                  <a:lnTo>
                    <a:pt x="182880" y="5669280"/>
                  </a:lnTo>
                  <a:cubicBezTo>
                    <a:pt x="81915" y="5669280"/>
                    <a:pt x="0" y="5587365"/>
                    <a:pt x="0" y="5486400"/>
                  </a:cubicBezTo>
                  <a:close/>
                </a:path>
              </a:pathLst>
            </a:custGeom>
            <a:solidFill>
              <a:srgbClr val="1B3A1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384798" y="3703320"/>
            <a:ext cx="1234440" cy="1234440"/>
            <a:chOff x="0" y="0"/>
            <a:chExt cx="164592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81064" y="3999586"/>
            <a:ext cx="641909" cy="641909"/>
            <a:chOff x="0" y="0"/>
            <a:chExt cx="855878" cy="855878"/>
          </a:xfrm>
        </p:grpSpPr>
        <p:sp>
          <p:nvSpPr>
            <p:cNvPr name="Freeform 26" id="26" descr="/home/claude/ppt/icon_server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21808" y="5212080"/>
            <a:ext cx="3360420" cy="548640"/>
            <a:chOff x="0" y="0"/>
            <a:chExt cx="44805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480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API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481828" y="5836920"/>
            <a:ext cx="304038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D9E5D5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 validates input, runs inference, builds the response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87968" y="4937760"/>
            <a:ext cx="384048" cy="822960"/>
            <a:chOff x="0" y="0"/>
            <a:chExt cx="512064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1206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B3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72016" y="3223260"/>
            <a:ext cx="3771900" cy="4251960"/>
            <a:chOff x="0" y="0"/>
            <a:chExt cx="5029200" cy="5669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486400"/>
                  </a:lnTo>
                  <a:cubicBezTo>
                    <a:pt x="5029200" y="5587365"/>
                    <a:pt x="4947285" y="5669280"/>
                    <a:pt x="4846320" y="5669280"/>
                  </a:cubicBezTo>
                  <a:lnTo>
                    <a:pt x="182880" y="5669280"/>
                  </a:lnTo>
                  <a:cubicBezTo>
                    <a:pt x="81915" y="5669280"/>
                    <a:pt x="0" y="5587365"/>
                    <a:pt x="0" y="54864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540746" y="3703320"/>
            <a:ext cx="1234440" cy="1234440"/>
            <a:chOff x="0" y="0"/>
            <a:chExt cx="1645920" cy="1645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837012" y="3999586"/>
            <a:ext cx="641909" cy="641909"/>
            <a:chOff x="0" y="0"/>
            <a:chExt cx="855878" cy="855878"/>
          </a:xfrm>
        </p:grpSpPr>
        <p:sp>
          <p:nvSpPr>
            <p:cNvPr name="Freeform 39" id="39" descr="/home/claude/ppt/icon_brain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77756" y="5212080"/>
            <a:ext cx="3360420" cy="548640"/>
            <a:chOff x="0" y="0"/>
            <a:chExt cx="44805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4480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Model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637776" y="5836920"/>
            <a:ext cx="304038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D9E5D5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EfficientNetB3 classifies the leaf into 1 of 38 classes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043916" y="4937760"/>
            <a:ext cx="384048" cy="822960"/>
            <a:chOff x="0" y="0"/>
            <a:chExt cx="512064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936" t="0" r="-22493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1206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B3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427964" y="3223260"/>
            <a:ext cx="3771900" cy="4251960"/>
            <a:chOff x="0" y="0"/>
            <a:chExt cx="5029200" cy="5669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29200" cy="5669280"/>
            </a:xfrm>
            <a:custGeom>
              <a:avLst/>
              <a:gdLst/>
              <a:ahLst/>
              <a:cxnLst/>
              <a:rect r="r" b="b" t="t" l="l"/>
              <a:pathLst>
                <a:path h="56692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5486400"/>
                  </a:lnTo>
                  <a:cubicBezTo>
                    <a:pt x="5029200" y="5587365"/>
                    <a:pt x="4947285" y="5669280"/>
                    <a:pt x="4846320" y="5669280"/>
                  </a:cubicBezTo>
                  <a:lnTo>
                    <a:pt x="182880" y="5669280"/>
                  </a:lnTo>
                  <a:cubicBezTo>
                    <a:pt x="81915" y="5669280"/>
                    <a:pt x="0" y="5587365"/>
                    <a:pt x="0" y="5486400"/>
                  </a:cubicBezTo>
                  <a:close/>
                </a:path>
              </a:pathLst>
            </a:custGeom>
            <a:solidFill>
              <a:srgbClr val="1B3A1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696694" y="3703320"/>
            <a:ext cx="1234440" cy="1234440"/>
            <a:chOff x="0" y="0"/>
            <a:chExt cx="1645920" cy="16459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992960" y="3999586"/>
            <a:ext cx="641909" cy="641909"/>
            <a:chOff x="0" y="0"/>
            <a:chExt cx="855878" cy="855878"/>
          </a:xfrm>
        </p:grpSpPr>
        <p:sp>
          <p:nvSpPr>
            <p:cNvPr name="Freeform 52" id="52" descr="/home/claude/ppt/icon_database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633704" y="5212080"/>
            <a:ext cx="3360420" cy="548640"/>
            <a:chOff x="0" y="0"/>
            <a:chExt cx="44805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4480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Base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793724" y="5836920"/>
            <a:ext cx="304038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D9E5D5"/>
                </a:solidFill>
                <a:latin typeface="Calibri (MS)"/>
                <a:ea typeface="Calibri (MS)"/>
                <a:cs typeface="Calibri (MS)"/>
                <a:sym typeface="Calibri (MS)"/>
              </a:rPr>
              <a:t>Maps class → symptoms, treatment, prevention, severity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50595" y="8082915"/>
            <a:ext cx="16258794" cy="1322070"/>
            <a:chOff x="0" y="0"/>
            <a:chExt cx="21678392" cy="1762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678392" cy="1762760"/>
            </a:xfrm>
            <a:custGeom>
              <a:avLst/>
              <a:gdLst/>
              <a:ahLst/>
              <a:cxnLst/>
              <a:rect r="r" b="b" t="t" l="l"/>
              <a:pathLst>
                <a:path h="1762760" w="21678392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21492845" y="0"/>
                  </a:lnTo>
                  <a:cubicBezTo>
                    <a:pt x="21595333" y="0"/>
                    <a:pt x="21678392" y="83058"/>
                    <a:pt x="21678392" y="185547"/>
                  </a:cubicBezTo>
                  <a:lnTo>
                    <a:pt x="21678392" y="1577213"/>
                  </a:lnTo>
                  <a:cubicBezTo>
                    <a:pt x="21678392" y="1679702"/>
                    <a:pt x="21595333" y="1762760"/>
                    <a:pt x="21492845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5F5F0"/>
            </a:solidFill>
            <a:ln w="19050" cap="sq">
              <a:solidFill>
                <a:srgbClr val="DCE5D8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03020" y="8339328"/>
            <a:ext cx="822960" cy="822960"/>
            <a:chOff x="0" y="0"/>
            <a:chExt cx="109728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00530" y="8536838"/>
            <a:ext cx="427939" cy="427939"/>
            <a:chOff x="0" y="0"/>
            <a:chExt cx="570586" cy="570586"/>
          </a:xfrm>
        </p:grpSpPr>
        <p:sp>
          <p:nvSpPr>
            <p:cNvPr name="Freeform 62" id="62" descr="/home/claude/ppt/icon_cloud.png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4" b="4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400300" y="8092440"/>
            <a:ext cx="13030200" cy="1303020"/>
            <a:chOff x="0" y="0"/>
            <a:chExt cx="17373600" cy="1737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3736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737360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3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Deployed publicly: </a:t>
              </a:r>
              <a:r>
                <a:rPr lang="en-US" sz="1950">
                  <a:solidFill>
                    <a:srgbClr val="2A2A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on Vercel (HTTPS, required for camera access) · Backend on Render (containerized Python + TensorFlow)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960120"/>
            <a:chOff x="0" y="0"/>
            <a:chExt cx="146304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630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1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 &amp;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7734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B65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EfficientNetB3, transfer-learned in two phases on the PlantVillage dataset.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8229600" cy="6240780"/>
            <a:chOff x="0" y="0"/>
            <a:chExt cx="10972800" cy="832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8321040"/>
            </a:xfrm>
            <a:custGeom>
              <a:avLst/>
              <a:gdLst/>
              <a:ahLst/>
              <a:cxnLst/>
              <a:rect r="r" b="b" t="t" l="l"/>
              <a:pathLst>
                <a:path h="8321040" w="10972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753344" y="0"/>
                  </a:lnTo>
                  <a:cubicBezTo>
                    <a:pt x="10874502" y="0"/>
                    <a:pt x="10972800" y="98298"/>
                    <a:pt x="10972800" y="219456"/>
                  </a:cubicBezTo>
                  <a:lnTo>
                    <a:pt x="10972800" y="8101584"/>
                  </a:lnTo>
                  <a:cubicBezTo>
                    <a:pt x="10972800" y="8222742"/>
                    <a:pt x="10874502" y="8321040"/>
                    <a:pt x="10753344" y="8321040"/>
                  </a:cubicBezTo>
                  <a:lnTo>
                    <a:pt x="219456" y="8321040"/>
                  </a:lnTo>
                  <a:cubicBezTo>
                    <a:pt x="98298" y="8321040"/>
                    <a:pt x="0" y="8222742"/>
                    <a:pt x="0" y="8101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95828"/>
            <a:ext cx="7406640" cy="548640"/>
            <a:chOff x="0" y="0"/>
            <a:chExt cx="9875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875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3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Two-phase transfer learning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411480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411480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86000" y="4053840"/>
            <a:ext cx="612648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2A2A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Head training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6560"/>
                </a:solidFill>
                <a:latin typeface="Calibri (MS)"/>
                <a:ea typeface="Calibri (MS)"/>
                <a:cs typeface="Calibri (MS)"/>
                <a:sym typeface="Calibri (MS)"/>
              </a:rPr>
              <a:t>Backbone frozen — only the new classification head adapts to 38 classes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4440" y="555498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555498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286000" y="5494020"/>
            <a:ext cx="612648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2A2A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Fine-tuning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6560"/>
                </a:solidFill>
                <a:latin typeface="Calibri (MS)"/>
                <a:ea typeface="Calibri (MS)"/>
                <a:cs typeface="Calibri (MS)"/>
                <a:sym typeface="Calibri (MS)"/>
              </a:rPr>
              <a:t>Top ~30 backbone layers unfrozen, trained at a lower learning rate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5880" y="7208520"/>
            <a:ext cx="722376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i="true">
                <a:solidFill>
                  <a:srgbClr val="5B656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Evaluation metrics: Top-1 accuracy + Top-3 categorical accuracy — several disease classes are visually similar, so top-3 better reflects real-world usefulness.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64040" y="2811780"/>
            <a:ext cx="3771900" cy="2880360"/>
            <a:chOff x="0" y="0"/>
            <a:chExt cx="5029200" cy="3840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3657600"/>
                  </a:lnTo>
                  <a:cubicBezTo>
                    <a:pt x="5029200" y="3758565"/>
                    <a:pt x="4947285" y="3840480"/>
                    <a:pt x="484632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69780" y="3195828"/>
            <a:ext cx="3360420" cy="1303020"/>
            <a:chOff x="0" y="0"/>
            <a:chExt cx="4480560" cy="1737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48056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97BC6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7.46%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761220" y="4671060"/>
            <a:ext cx="31775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Accuracy (Top-1)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647420" y="2811780"/>
            <a:ext cx="3771900" cy="2880360"/>
            <a:chOff x="0" y="0"/>
            <a:chExt cx="5029200" cy="3840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3657600"/>
                  </a:lnTo>
                  <a:cubicBezTo>
                    <a:pt x="5029200" y="3758565"/>
                    <a:pt x="4947285" y="3840480"/>
                    <a:pt x="484632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853160" y="3195828"/>
            <a:ext cx="3360420" cy="1303020"/>
            <a:chOff x="0" y="0"/>
            <a:chExt cx="448056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48056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97BC6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19.43%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944600" y="4671060"/>
            <a:ext cx="31775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Top-3 Accuracy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64040" y="6103620"/>
            <a:ext cx="3771900" cy="2880360"/>
            <a:chOff x="0" y="0"/>
            <a:chExt cx="5029200" cy="3840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3657600"/>
                  </a:lnTo>
                  <a:cubicBezTo>
                    <a:pt x="5029200" y="3758565"/>
                    <a:pt x="4947285" y="3840480"/>
                    <a:pt x="484632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69780" y="6487668"/>
            <a:ext cx="3360420" cy="1303020"/>
            <a:chOff x="0" y="0"/>
            <a:chExt cx="448056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48056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97BC6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38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761220" y="7962900"/>
            <a:ext cx="31775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Disease Classes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647420" y="6103620"/>
            <a:ext cx="3771900" cy="2880360"/>
            <a:chOff x="0" y="0"/>
            <a:chExt cx="5029200" cy="3840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2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02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846320" y="0"/>
                  </a:lnTo>
                  <a:cubicBezTo>
                    <a:pt x="4947285" y="0"/>
                    <a:pt x="5029200" y="81915"/>
                    <a:pt x="5029200" y="182880"/>
                  </a:cubicBezTo>
                  <a:lnTo>
                    <a:pt x="5029200" y="3657600"/>
                  </a:lnTo>
                  <a:cubicBezTo>
                    <a:pt x="5029200" y="3758565"/>
                    <a:pt x="4947285" y="3840480"/>
                    <a:pt x="484632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853160" y="6487668"/>
            <a:ext cx="3360420" cy="1303020"/>
            <a:chOff x="0" y="0"/>
            <a:chExt cx="4480560" cy="1737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805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" r="0" b="-2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48056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97BC6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~41ms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3944600" y="7962900"/>
            <a:ext cx="31775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Avg. Inference Time / Step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64040" y="9464040"/>
            <a:ext cx="7955280" cy="480060"/>
            <a:chOff x="0" y="0"/>
            <a:chExt cx="1060704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07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6070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5B656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Figures from a 2-epoch training run (Colab free-tier GPU time limit) — a longer schedule would improve accuracy further.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960120"/>
            <a:chOff x="0" y="0"/>
            <a:chExt cx="219456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Code to Field-Ready Tool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7734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Technology stack, live deployment, and what's next.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80360"/>
            <a:ext cx="3909060" cy="2125980"/>
            <a:chOff x="0" y="0"/>
            <a:chExt cx="5212080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651760"/>
                  </a:lnTo>
                  <a:cubicBezTo>
                    <a:pt x="5212080" y="2752725"/>
                    <a:pt x="5130165" y="2834640"/>
                    <a:pt x="502920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319272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2126" y="3615538"/>
            <a:ext cx="641909" cy="641909"/>
            <a:chOff x="0" y="0"/>
            <a:chExt cx="855878" cy="855878"/>
          </a:xfrm>
        </p:grpSpPr>
        <p:sp>
          <p:nvSpPr>
            <p:cNvPr name="Freeform 13" id="13" descr="/home/claude/ppt/icon_code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2880360"/>
            <a:ext cx="1988820" cy="2125980"/>
            <a:chOff x="0" y="0"/>
            <a:chExt cx="2651760" cy="2834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51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152" t="0" r="-8715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51760" cy="287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+ TensorFlow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74920" y="2880360"/>
            <a:ext cx="3909060" cy="2125980"/>
            <a:chOff x="0" y="0"/>
            <a:chExt cx="5212080" cy="2834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651760"/>
                  </a:lnTo>
                  <a:cubicBezTo>
                    <a:pt x="5212080" y="2752725"/>
                    <a:pt x="5130165" y="2834640"/>
                    <a:pt x="502920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17820" y="3319272"/>
            <a:ext cx="1234440" cy="1234440"/>
            <a:chOff x="0" y="0"/>
            <a:chExt cx="164592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4086" y="3615538"/>
            <a:ext cx="641909" cy="641909"/>
            <a:chOff x="0" y="0"/>
            <a:chExt cx="855878" cy="855878"/>
          </a:xfrm>
        </p:grpSpPr>
        <p:sp>
          <p:nvSpPr>
            <p:cNvPr name="Freeform 22" id="22" descr="/home/claude/ppt/icon_layer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89420" y="2880360"/>
            <a:ext cx="1988820" cy="2125980"/>
            <a:chOff x="0" y="0"/>
            <a:chExt cx="265176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51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152" t="0" r="-8715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51760" cy="287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EfficientNetB3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26880" y="2880360"/>
            <a:ext cx="3909060" cy="2125980"/>
            <a:chOff x="0" y="0"/>
            <a:chExt cx="5212080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651760"/>
                  </a:lnTo>
                  <a:cubicBezTo>
                    <a:pt x="5212080" y="2752725"/>
                    <a:pt x="5130165" y="2834640"/>
                    <a:pt x="502920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69780" y="3319272"/>
            <a:ext cx="1234440" cy="1234440"/>
            <a:chOff x="0" y="0"/>
            <a:chExt cx="164592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966046" y="3615538"/>
            <a:ext cx="641909" cy="641909"/>
            <a:chOff x="0" y="0"/>
            <a:chExt cx="855878" cy="855878"/>
          </a:xfrm>
        </p:grpSpPr>
        <p:sp>
          <p:nvSpPr>
            <p:cNvPr name="Freeform 31" id="31" descr="/home/claude/ppt/icon_camera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041380" y="2880360"/>
            <a:ext cx="1988820" cy="2125980"/>
            <a:chOff x="0" y="0"/>
            <a:chExt cx="2651760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1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152" t="0" r="-8715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651760" cy="287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 Camera API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78840" y="2880360"/>
            <a:ext cx="3909060" cy="2125980"/>
            <a:chOff x="0" y="0"/>
            <a:chExt cx="5212080" cy="2834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651760"/>
                  </a:lnTo>
                  <a:cubicBezTo>
                    <a:pt x="5212080" y="2752725"/>
                    <a:pt x="5130165" y="2834640"/>
                    <a:pt x="502920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921740" y="3319272"/>
            <a:ext cx="1234440" cy="1234440"/>
            <a:chOff x="0" y="0"/>
            <a:chExt cx="164592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218006" y="3615538"/>
            <a:ext cx="641909" cy="641909"/>
            <a:chOff x="0" y="0"/>
            <a:chExt cx="855878" cy="855878"/>
          </a:xfrm>
        </p:grpSpPr>
        <p:sp>
          <p:nvSpPr>
            <p:cNvPr name="Freeform 40" id="40" descr="/home/claude/ppt/icon_clou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293340" y="2880360"/>
            <a:ext cx="1988820" cy="2125980"/>
            <a:chOff x="0" y="0"/>
            <a:chExt cx="2651760" cy="2834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51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152" t="0" r="-8715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651760" cy="2872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+ Vercel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5554980"/>
            <a:ext cx="16596360" cy="2125980"/>
            <a:chOff x="0" y="0"/>
            <a:chExt cx="22128480" cy="2834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2651760"/>
                  </a:lnTo>
                  <a:cubicBezTo>
                    <a:pt x="22128480" y="2752725"/>
                    <a:pt x="22046564" y="2834640"/>
                    <a:pt x="2194560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34440" y="6035040"/>
            <a:ext cx="1165860" cy="1165860"/>
            <a:chOff x="0" y="0"/>
            <a:chExt cx="155448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14246" y="6314846"/>
            <a:ext cx="606247" cy="606247"/>
            <a:chOff x="0" y="0"/>
            <a:chExt cx="808330" cy="808330"/>
          </a:xfrm>
        </p:grpSpPr>
        <p:sp>
          <p:nvSpPr>
            <p:cNvPr name="Freeform 49" id="49" descr="/home/claude/ppt/icon_check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743200" y="5554980"/>
            <a:ext cx="14264640" cy="2125980"/>
            <a:chOff x="0" y="0"/>
            <a:chExt cx="1901952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0195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38" r="0" b="-8073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9019520" cy="2882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complete, deployed pipeline —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 farmer's photo to an actionable diagnosis — demonstrating that expert-level plant disease diagnosis can be made instantly accessible from any phone, closing the gap between plant pathology research and real field use.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8023860"/>
            <a:ext cx="16596360" cy="548640"/>
            <a:chOff x="0" y="0"/>
            <a:chExt cx="221284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Demo:  </a:t>
              </a:r>
              <a:r>
                <a:rPr lang="en-US" sz="1875" u="sng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9" tooltip="https://plant-disease-detector-mu.vercel.app"/>
                </a:rPr>
                <a:t>[LINK]</a:t>
              </a:r>
              <a:r>
                <a:rPr lang="en-US" sz="1875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GitHub:  </a:t>
              </a:r>
              <a:r>
                <a:rPr lang="en-US" sz="1875" u="sng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0" tooltip="https://github.com/gaurav-1714/Plant-Disease-Detector"/>
                </a:rPr>
                <a:t>[LINK]</a:t>
              </a:r>
              <a:r>
                <a:rPr lang="en-US" sz="1875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API Docs:  </a:t>
              </a:r>
              <a:r>
                <a:rPr lang="en-US" sz="1875" u="sng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11" tooltip="https://plant-disease-detector-osut.onrender.com/docs"/>
                </a:rPr>
                <a:t>LINK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8709660"/>
            <a:ext cx="16596360" cy="548640"/>
            <a:chOff x="0" y="0"/>
            <a:chExt cx="221284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9FB89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Future work: longer training runs, in-field validation data, user accounts, regional outbreak alerts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DAHQjZe6kmQ</dc:identifier>
  <dcterms:modified xsi:type="dcterms:W3CDTF">2011-08-01T06:04:30Z</dcterms:modified>
  <cp:revision>1</cp:revision>
  <dc:title>PlantGuard_AI_Presentation.pptx</dc:title>
</cp:coreProperties>
</file>